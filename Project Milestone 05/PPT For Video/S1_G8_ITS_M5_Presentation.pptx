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embeddedFontLst>
    <p:embeddedFont>
      <p:font typeface="Helvetica World" panose="020B0604020202020204" charset="-128"/>
      <p:regular r:id="rId32"/>
    </p:embeddedFont>
    <p:embeddedFont>
      <p:font typeface="Helvetica World Bold" panose="020B0604020202020204" charset="-128"/>
      <p:regular r:id="rId33"/>
    </p:embeddedFont>
    <p:embeddedFont>
      <p:font typeface="Canva Sans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eeksforgeeks.org/dsa/haversine-formula-to-find-distance-between-two-points-on-a-sphere/" TargetMode="External"/><Relationship Id="rId5" Type="http://schemas.openxmlformats.org/officeDocument/2006/relationships/hyperlink" Target="https://people.hec.edu/rosu/wp-content/uploads/sites/43/2022/02/bellman.pdf" TargetMode="External"/><Relationship Id="rId4" Type="http://schemas.openxmlformats.org/officeDocument/2006/relationships/image" Target="../media/image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codesensei404/G8_S1_ITS" TargetMode="External"/><Relationship Id="rId5" Type="http://schemas.openxmlformats.org/officeDocument/2006/relationships/hyperlink" Target="https://github.com/mehrdadn/SOTA-Py/" TargetMode="Externa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554178" y="1028700"/>
            <a:ext cx="5179644" cy="1757713"/>
            <a:chOff x="0" y="0"/>
            <a:chExt cx="7857604" cy="26664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857617" cy="2666492"/>
            </a:xfrm>
            <a:custGeom>
              <a:avLst/>
              <a:gdLst/>
              <a:ahLst/>
              <a:cxnLst/>
              <a:rect l="l" t="t" r="r" b="b"/>
              <a:pathLst>
                <a:path w="7857617" h="2666492">
                  <a:moveTo>
                    <a:pt x="0" y="0"/>
                  </a:moveTo>
                  <a:lnTo>
                    <a:pt x="7857617" y="0"/>
                  </a:lnTo>
                  <a:lnTo>
                    <a:pt x="7857617" y="2666492"/>
                  </a:lnTo>
                  <a:lnTo>
                    <a:pt x="0" y="266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935" t="-264896" r="-89066" b="-265418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716277" y="3155056"/>
            <a:ext cx="14855446" cy="1763203"/>
            <a:chOff x="0" y="0"/>
            <a:chExt cx="19807261" cy="23509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807261" cy="2350937"/>
            </a:xfrm>
            <a:custGeom>
              <a:avLst/>
              <a:gdLst/>
              <a:ahLst/>
              <a:cxnLst/>
              <a:rect l="l" t="t" r="r" b="b"/>
              <a:pathLst>
                <a:path w="19807261" h="2350937">
                  <a:moveTo>
                    <a:pt x="0" y="0"/>
                  </a:moveTo>
                  <a:lnTo>
                    <a:pt x="19807261" y="0"/>
                  </a:lnTo>
                  <a:lnTo>
                    <a:pt x="19807261" y="2350937"/>
                  </a:lnTo>
                  <a:lnTo>
                    <a:pt x="0" y="23509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5962" r="-6183" b="-11267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76200"/>
              <a:ext cx="19807261" cy="227473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128"/>
                </a:lnSpc>
              </a:pPr>
              <a:r>
                <a:rPr lang="en-US" sz="66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Stochastic On Time Arrival Problem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07665" y="8959102"/>
            <a:ext cx="14472670" cy="928662"/>
            <a:chOff x="0" y="0"/>
            <a:chExt cx="19296894" cy="12382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296893" cy="1238216"/>
            </a:xfrm>
            <a:custGeom>
              <a:avLst/>
              <a:gdLst/>
              <a:ahLst/>
              <a:cxnLst/>
              <a:rect l="l" t="t" r="r" b="b"/>
              <a:pathLst>
                <a:path w="19296893" h="1238216">
                  <a:moveTo>
                    <a:pt x="0" y="0"/>
                  </a:moveTo>
                  <a:lnTo>
                    <a:pt x="19296893" y="0"/>
                  </a:lnTo>
                  <a:lnTo>
                    <a:pt x="19296893" y="1238216"/>
                  </a:lnTo>
                  <a:lnTo>
                    <a:pt x="0" y="1238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8145" r="-8991" b="-30379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38100"/>
              <a:ext cx="19296894" cy="120011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348"/>
                </a:lnSpc>
              </a:pPr>
              <a:r>
                <a:rPr lang="en-US" sz="31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CSE 400: Fundamentals of Probability in Computing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41327" y="4422959"/>
            <a:ext cx="7005346" cy="1009239"/>
            <a:chOff x="0" y="0"/>
            <a:chExt cx="9340461" cy="13456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340462" cy="1345653"/>
            </a:xfrm>
            <a:custGeom>
              <a:avLst/>
              <a:gdLst/>
              <a:ahLst/>
              <a:cxnLst/>
              <a:rect l="l" t="t" r="r" b="b"/>
              <a:pathLst>
                <a:path w="9340462" h="1345653">
                  <a:moveTo>
                    <a:pt x="0" y="0"/>
                  </a:moveTo>
                  <a:lnTo>
                    <a:pt x="9340462" y="0"/>
                  </a:lnTo>
                  <a:lnTo>
                    <a:pt x="9340462" y="1345653"/>
                  </a:lnTo>
                  <a:lnTo>
                    <a:pt x="0" y="13456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7534" r="-125170" b="-27155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38100"/>
              <a:ext cx="9340461" cy="130755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104"/>
                </a:lnSpc>
              </a:pPr>
              <a:r>
                <a:rPr lang="en-US" sz="38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Presentation and Viva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060244" y="5679848"/>
            <a:ext cx="8167512" cy="1707037"/>
            <a:chOff x="0" y="0"/>
            <a:chExt cx="10890016" cy="227604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90016" cy="2276049"/>
            </a:xfrm>
            <a:custGeom>
              <a:avLst/>
              <a:gdLst/>
              <a:ahLst/>
              <a:cxnLst/>
              <a:rect l="l" t="t" r="r" b="b"/>
              <a:pathLst>
                <a:path w="10890016" h="2276049">
                  <a:moveTo>
                    <a:pt x="0" y="0"/>
                  </a:moveTo>
                  <a:lnTo>
                    <a:pt x="10890016" y="0"/>
                  </a:lnTo>
                  <a:lnTo>
                    <a:pt x="10890016" y="2276049"/>
                  </a:lnTo>
                  <a:lnTo>
                    <a:pt x="0" y="22760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0436" r="-93131" b="-11966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47625"/>
              <a:ext cx="10890016" cy="222842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428"/>
                </a:lnSpc>
              </a:pPr>
              <a:r>
                <a:rPr lang="en-US" sz="41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S1-G8-ITS</a:t>
              </a:r>
            </a:p>
            <a:p>
              <a:pPr algn="ctr">
                <a:lnSpc>
                  <a:spcPts val="4428"/>
                </a:lnSpc>
              </a:pPr>
              <a:r>
                <a:rPr lang="en-US" sz="41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Mentor: Prapti Patel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49039" y="7634535"/>
            <a:ext cx="14472670" cy="1392993"/>
            <a:chOff x="0" y="0"/>
            <a:chExt cx="19296894" cy="1857324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9296894" cy="1238216"/>
              <a:chOff x="0" y="0"/>
              <a:chExt cx="19296894" cy="123821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9296893" cy="1238216"/>
              </a:xfrm>
              <a:custGeom>
                <a:avLst/>
                <a:gdLst/>
                <a:ahLst/>
                <a:cxnLst/>
                <a:rect l="l" t="t" r="r" b="b"/>
                <a:pathLst>
                  <a:path w="19296893" h="1238216">
                    <a:moveTo>
                      <a:pt x="0" y="0"/>
                    </a:moveTo>
                    <a:lnTo>
                      <a:pt x="19296893" y="0"/>
                    </a:lnTo>
                    <a:lnTo>
                      <a:pt x="19296893" y="1238216"/>
                    </a:lnTo>
                    <a:lnTo>
                      <a:pt x="0" y="123821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58145" r="-8991" b="-303790"/>
                </a:stretch>
              </a:blip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47625"/>
                <a:ext cx="19296894" cy="1190591"/>
              </a:xfrm>
              <a:prstGeom prst="rect">
                <a:avLst/>
              </a:prstGeom>
            </p:spPr>
            <p:txBody>
              <a:bodyPr lIns="0" tIns="0" rIns="0" bIns="0" rtlCol="0" anchor="b"/>
              <a:lstStyle/>
              <a:p>
                <a:pPr algn="ctr">
                  <a:lnSpc>
                    <a:spcPts val="3780"/>
                  </a:lnSpc>
                </a:pPr>
                <a:r>
                  <a:rPr lang="en-US" sz="3500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Abdulwahab Shaikh, Yagnik Trivedi, Dhruvi Chavda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619108"/>
              <a:ext cx="19296894" cy="1238216"/>
              <a:chOff x="0" y="0"/>
              <a:chExt cx="19296894" cy="123821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9296893" cy="1238216"/>
              </a:xfrm>
              <a:custGeom>
                <a:avLst/>
                <a:gdLst/>
                <a:ahLst/>
                <a:cxnLst/>
                <a:rect l="l" t="t" r="r" b="b"/>
                <a:pathLst>
                  <a:path w="19296893" h="1238216">
                    <a:moveTo>
                      <a:pt x="0" y="0"/>
                    </a:moveTo>
                    <a:lnTo>
                      <a:pt x="19296893" y="0"/>
                    </a:lnTo>
                    <a:lnTo>
                      <a:pt x="19296893" y="1238216"/>
                    </a:lnTo>
                    <a:lnTo>
                      <a:pt x="0" y="123821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58145" r="-8991" b="-303790"/>
                </a:stretch>
              </a:blip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47625"/>
                <a:ext cx="19296894" cy="1190591"/>
              </a:xfrm>
              <a:prstGeom prst="rect">
                <a:avLst/>
              </a:prstGeom>
            </p:spPr>
            <p:txBody>
              <a:bodyPr lIns="0" tIns="0" rIns="0" bIns="0" rtlCol="0" anchor="b"/>
              <a:lstStyle/>
              <a:p>
                <a:pPr algn="ctr">
                  <a:lnSpc>
                    <a:spcPts val="3780"/>
                  </a:lnSpc>
                </a:pPr>
                <a:r>
                  <a:rPr lang="en-US" sz="3500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Manthangiri Gosai, Vruddhi Madam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501299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Background and Motivation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226899" y="3024672"/>
            <a:ext cx="9834202" cy="423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0393" lvl="1" indent="-370196" algn="l">
              <a:lnSpc>
                <a:spcPts val="4183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Reality: Real-world road networks are highly unpredictable.</a:t>
            </a:r>
          </a:p>
          <a:p>
            <a:pPr marL="740393" lvl="1" indent="-370196" algn="l">
              <a:lnSpc>
                <a:spcPts val="4183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Flaw: Deterministic algorithms assume fixed travel times, ignoring variance.</a:t>
            </a:r>
          </a:p>
          <a:p>
            <a:pPr marL="740393" lvl="1" indent="-370196" algn="l">
              <a:lnSpc>
                <a:spcPts val="4183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Shift: Moving from optimizing for the fastest average route to the most reliable route.</a:t>
            </a:r>
          </a:p>
          <a:p>
            <a:pPr marL="740393" lvl="1" indent="-370196" algn="l">
              <a:lnSpc>
                <a:spcPts val="4183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Impact: Critical for high-stakes scenarios (e.g., emergency services, strict deadlines).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501299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 Paper Overview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2828667"/>
            <a:ext cx="9641930" cy="485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872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Reference: Tractable Pathfinding for the SOTA Problem (Niknami &amp; Samaranayake, 2016).</a:t>
            </a:r>
          </a:p>
          <a:p>
            <a:pPr marL="690881" lvl="1" indent="-345440" algn="l">
              <a:lnSpc>
                <a:spcPts val="3872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Challenge: Exact SOTA algorithms are computationally intractable on large city networks.</a:t>
            </a:r>
          </a:p>
          <a:p>
            <a:pPr marL="690881" lvl="1" indent="-345440" algn="l">
              <a:lnSpc>
                <a:spcPts val="3872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Core Contribution: Utilizing the exact "policy-based" SOTA solution as a mathematical heuristic for an A* search.</a:t>
            </a:r>
          </a:p>
          <a:p>
            <a:pPr marL="690881" lvl="1" indent="-345440" algn="l">
              <a:lnSpc>
                <a:spcPts val="3872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Result: Makes probabilistic routing computationally feasible for real-world applications.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209818" y="2313251"/>
            <a:ext cx="2792182" cy="1347083"/>
            <a:chOff x="0" y="0"/>
            <a:chExt cx="735389" cy="3547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5389" cy="354787"/>
            </a:xfrm>
            <a:custGeom>
              <a:avLst/>
              <a:gdLst/>
              <a:ahLst/>
              <a:cxnLst/>
              <a:rect l="l" t="t" r="r" b="b"/>
              <a:pathLst>
                <a:path w="735389" h="354787">
                  <a:moveTo>
                    <a:pt x="141408" y="0"/>
                  </a:moveTo>
                  <a:lnTo>
                    <a:pt x="593981" y="0"/>
                  </a:lnTo>
                  <a:cubicBezTo>
                    <a:pt x="672079" y="0"/>
                    <a:pt x="735389" y="63311"/>
                    <a:pt x="735389" y="141408"/>
                  </a:cubicBezTo>
                  <a:lnTo>
                    <a:pt x="735389" y="213379"/>
                  </a:lnTo>
                  <a:cubicBezTo>
                    <a:pt x="735389" y="291477"/>
                    <a:pt x="672079" y="354787"/>
                    <a:pt x="593981" y="354787"/>
                  </a:cubicBezTo>
                  <a:lnTo>
                    <a:pt x="141408" y="354787"/>
                  </a:lnTo>
                  <a:cubicBezTo>
                    <a:pt x="63311" y="354787"/>
                    <a:pt x="0" y="291477"/>
                    <a:pt x="0" y="213379"/>
                  </a:cubicBezTo>
                  <a:lnTo>
                    <a:pt x="0" y="141408"/>
                  </a:lnTo>
                  <a:cubicBezTo>
                    <a:pt x="0" y="63311"/>
                    <a:pt x="63311" y="0"/>
                    <a:pt x="141408" y="0"/>
                  </a:cubicBezTo>
                  <a:close/>
                </a:path>
              </a:pathLst>
            </a:custGeom>
            <a:solidFill>
              <a:srgbClr val="46494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35389" cy="392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Complex Stochastic Graph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209818" y="4469959"/>
            <a:ext cx="2792182" cy="1347083"/>
            <a:chOff x="0" y="0"/>
            <a:chExt cx="735389" cy="3547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35389" cy="354787"/>
            </a:xfrm>
            <a:custGeom>
              <a:avLst/>
              <a:gdLst/>
              <a:ahLst/>
              <a:cxnLst/>
              <a:rect l="l" t="t" r="r" b="b"/>
              <a:pathLst>
                <a:path w="735389" h="354787">
                  <a:moveTo>
                    <a:pt x="141408" y="0"/>
                  </a:moveTo>
                  <a:lnTo>
                    <a:pt x="593981" y="0"/>
                  </a:lnTo>
                  <a:cubicBezTo>
                    <a:pt x="672079" y="0"/>
                    <a:pt x="735389" y="63311"/>
                    <a:pt x="735389" y="141408"/>
                  </a:cubicBezTo>
                  <a:lnTo>
                    <a:pt x="735389" y="213379"/>
                  </a:lnTo>
                  <a:cubicBezTo>
                    <a:pt x="735389" y="291477"/>
                    <a:pt x="672079" y="354787"/>
                    <a:pt x="593981" y="354787"/>
                  </a:cubicBezTo>
                  <a:lnTo>
                    <a:pt x="141408" y="354787"/>
                  </a:lnTo>
                  <a:cubicBezTo>
                    <a:pt x="63311" y="354787"/>
                    <a:pt x="0" y="291477"/>
                    <a:pt x="0" y="213379"/>
                  </a:cubicBezTo>
                  <a:lnTo>
                    <a:pt x="0" y="141408"/>
                  </a:lnTo>
                  <a:cubicBezTo>
                    <a:pt x="0" y="63311"/>
                    <a:pt x="63311" y="0"/>
                    <a:pt x="141408" y="0"/>
                  </a:cubicBezTo>
                  <a:close/>
                </a:path>
              </a:pathLst>
            </a:custGeom>
            <a:solidFill>
              <a:srgbClr val="46494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35389" cy="392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Policy-Based SOTA Heuristic + A* Search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09818" y="6628738"/>
            <a:ext cx="2792182" cy="1347083"/>
            <a:chOff x="0" y="0"/>
            <a:chExt cx="735389" cy="3547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5389" cy="354787"/>
            </a:xfrm>
            <a:custGeom>
              <a:avLst/>
              <a:gdLst/>
              <a:ahLst/>
              <a:cxnLst/>
              <a:rect l="l" t="t" r="r" b="b"/>
              <a:pathLst>
                <a:path w="735389" h="354787">
                  <a:moveTo>
                    <a:pt x="141408" y="0"/>
                  </a:moveTo>
                  <a:lnTo>
                    <a:pt x="593981" y="0"/>
                  </a:lnTo>
                  <a:cubicBezTo>
                    <a:pt x="672079" y="0"/>
                    <a:pt x="735389" y="63311"/>
                    <a:pt x="735389" y="141408"/>
                  </a:cubicBezTo>
                  <a:lnTo>
                    <a:pt x="735389" y="213379"/>
                  </a:lnTo>
                  <a:cubicBezTo>
                    <a:pt x="735389" y="291477"/>
                    <a:pt x="672079" y="354787"/>
                    <a:pt x="593981" y="354787"/>
                  </a:cubicBezTo>
                  <a:lnTo>
                    <a:pt x="141408" y="354787"/>
                  </a:lnTo>
                  <a:cubicBezTo>
                    <a:pt x="63311" y="354787"/>
                    <a:pt x="0" y="291477"/>
                    <a:pt x="0" y="213379"/>
                  </a:cubicBezTo>
                  <a:lnTo>
                    <a:pt x="0" y="141408"/>
                  </a:lnTo>
                  <a:cubicBezTo>
                    <a:pt x="0" y="63311"/>
                    <a:pt x="63311" y="0"/>
                    <a:pt x="141408" y="0"/>
                  </a:cubicBezTo>
                  <a:close/>
                </a:path>
              </a:pathLst>
            </a:custGeom>
            <a:solidFill>
              <a:srgbClr val="46494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735389" cy="392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Tractable Optimal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Path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4605909" y="3660334"/>
            <a:ext cx="0" cy="80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4" name="AutoShape 24"/>
          <p:cNvSpPr/>
          <p:nvPr/>
        </p:nvSpPr>
        <p:spPr>
          <a:xfrm>
            <a:off x="14605909" y="5817041"/>
            <a:ext cx="0" cy="811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501299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Problem Formulation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1255766" y="2262458"/>
            <a:ext cx="6003534" cy="5762083"/>
          </a:xfrm>
          <a:custGeom>
            <a:avLst/>
            <a:gdLst/>
            <a:ahLst/>
            <a:cxnLst/>
            <a:rect l="l" t="t" r="r" b="b"/>
            <a:pathLst>
              <a:path w="6003534" h="5762083">
                <a:moveTo>
                  <a:pt x="0" y="0"/>
                </a:moveTo>
                <a:lnTo>
                  <a:pt x="6003534" y="0"/>
                </a:lnTo>
                <a:lnTo>
                  <a:pt x="6003534" y="5762084"/>
                </a:lnTo>
                <a:lnTo>
                  <a:pt x="0" y="5762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463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38220" y="2828667"/>
            <a:ext cx="9581706" cy="533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2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Road network → Graph G(V, E)</a:t>
            </a:r>
          </a:p>
          <a:p>
            <a:pPr algn="l">
              <a:lnSpc>
                <a:spcPts val="3872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Each edge has stochastic travel time</a:t>
            </a:r>
          </a:p>
          <a:p>
            <a:pPr algn="l">
              <a:lnSpc>
                <a:spcPts val="3872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Given:</a:t>
            </a:r>
          </a:p>
          <a:p>
            <a:pPr algn="ctr">
              <a:lnSpc>
                <a:spcPts val="3872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- Source s</a:t>
            </a:r>
          </a:p>
          <a:p>
            <a:pPr algn="ctr">
              <a:lnSpc>
                <a:spcPts val="3872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- Destination d</a:t>
            </a:r>
          </a:p>
          <a:p>
            <a:pPr algn="ctr">
              <a:lnSpc>
                <a:spcPts val="3872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- Time budget D</a:t>
            </a:r>
          </a:p>
          <a:p>
            <a:pPr algn="l">
              <a:lnSpc>
                <a:spcPts val="3872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Objective:</a:t>
            </a:r>
          </a:p>
          <a:p>
            <a:pPr algn="ctr">
              <a:lnSpc>
                <a:spcPts val="3872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maximize P(T ≤ D)</a:t>
            </a:r>
          </a:p>
          <a:p>
            <a:pPr algn="ctr">
              <a:lnSpc>
                <a:spcPts val="3872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T: Total travel time </a:t>
            </a:r>
          </a:p>
          <a:p>
            <a:pPr algn="l">
              <a:lnSpc>
                <a:spcPts val="3872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Goal: maximize reliability instead of expected time</a:t>
            </a:r>
          </a:p>
          <a:p>
            <a:pPr algn="l">
              <a:lnSpc>
                <a:spcPts val="3872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Path must be fixed before travel (Path-based SOTA)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55766" y="8348392"/>
            <a:ext cx="6003534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Example of real-world route computed by our model</a:t>
            </a:r>
          </a:p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IIM Ahmedabad → Kankaria Lake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025454" y="501299"/>
            <a:ext cx="14237093" cy="1437078"/>
            <a:chOff x="0" y="0"/>
            <a:chExt cx="18982790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982790" cy="1916104"/>
            </a:xfrm>
            <a:custGeom>
              <a:avLst/>
              <a:gdLst/>
              <a:ahLst/>
              <a:cxnLst/>
              <a:rect l="l" t="t" r="r" b="b"/>
              <a:pathLst>
                <a:path w="18982790" h="1916104">
                  <a:moveTo>
                    <a:pt x="0" y="0"/>
                  </a:moveTo>
                  <a:lnTo>
                    <a:pt x="18982790" y="0"/>
                  </a:lnTo>
                  <a:lnTo>
                    <a:pt x="1898279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0790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8982790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Mathematical Model - 1 - Jensen Inequality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962235" y="2054606"/>
            <a:ext cx="9857615" cy="615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Edge travel time:</a:t>
            </a:r>
          </a:p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Mean μ, Variance σ²</a:t>
            </a:r>
          </a:p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Assumption:</a:t>
            </a:r>
          </a:p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Edge travel times are independent</a:t>
            </a:r>
          </a:p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Total path:</a:t>
            </a:r>
          </a:p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Mean = sum of means</a:t>
            </a:r>
          </a:p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Variance = sum of variances</a:t>
            </a:r>
          </a:p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Reliability:</a:t>
            </a:r>
          </a:p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P(T ≤ D) = Φ((D − μ)/σ)</a:t>
            </a:r>
          </a:p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Jensen’s Inequality:</a:t>
            </a:r>
          </a:p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f(E[T]) ≠ E[f(T)]</a:t>
            </a:r>
          </a:p>
          <a:p>
            <a:pPr algn="l">
              <a:lnSpc>
                <a:spcPts val="4096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⇒ minimizing expected time ≠ maximizing reliability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4576727" y="1973499"/>
            <a:ext cx="9134547" cy="7284801"/>
          </a:xfrm>
          <a:custGeom>
            <a:avLst/>
            <a:gdLst/>
            <a:ahLst/>
            <a:cxnLst/>
            <a:rect l="l" t="t" r="r" b="b"/>
            <a:pathLst>
              <a:path w="9134547" h="7284801">
                <a:moveTo>
                  <a:pt x="0" y="0"/>
                </a:moveTo>
                <a:lnTo>
                  <a:pt x="9134546" y="0"/>
                </a:lnTo>
                <a:lnTo>
                  <a:pt x="9134546" y="7284801"/>
                </a:lnTo>
                <a:lnTo>
                  <a:pt x="0" y="7284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562587" y="310161"/>
            <a:ext cx="15162826" cy="1437078"/>
            <a:chOff x="0" y="0"/>
            <a:chExt cx="20217101" cy="19161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217101" cy="1916104"/>
            </a:xfrm>
            <a:custGeom>
              <a:avLst/>
              <a:gdLst/>
              <a:ahLst/>
              <a:cxnLst/>
              <a:rect l="l" t="t" r="r" b="b"/>
              <a:pathLst>
                <a:path w="20217101" h="1916104">
                  <a:moveTo>
                    <a:pt x="0" y="0"/>
                  </a:moveTo>
                  <a:lnTo>
                    <a:pt x="20217101" y="0"/>
                  </a:lnTo>
                  <a:lnTo>
                    <a:pt x="20217101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4986" r="-4026" b="-26275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20217101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Mathematical Model - 2 - Excess Time Budget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62587" y="310161"/>
            <a:ext cx="15162826" cy="1437078"/>
            <a:chOff x="0" y="0"/>
            <a:chExt cx="20217101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17101" cy="1916104"/>
            </a:xfrm>
            <a:custGeom>
              <a:avLst/>
              <a:gdLst/>
              <a:ahLst/>
              <a:cxnLst/>
              <a:rect l="l" t="t" r="r" b="b"/>
              <a:pathLst>
                <a:path w="20217101" h="1916104">
                  <a:moveTo>
                    <a:pt x="0" y="0"/>
                  </a:moveTo>
                  <a:lnTo>
                    <a:pt x="20217101" y="0"/>
                  </a:lnTo>
                  <a:lnTo>
                    <a:pt x="20217101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4026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20217101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Mathematical Model - 3 - Excess Time Budget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2318" y="2503371"/>
            <a:ext cx="16483364" cy="5990052"/>
            <a:chOff x="0" y="0"/>
            <a:chExt cx="21977818" cy="79867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48982" cy="7986736"/>
            </a:xfrm>
            <a:custGeom>
              <a:avLst/>
              <a:gdLst/>
              <a:ahLst/>
              <a:cxnLst/>
              <a:rect l="l" t="t" r="r" b="b"/>
              <a:pathLst>
                <a:path w="10648982" h="7986736">
                  <a:moveTo>
                    <a:pt x="0" y="0"/>
                  </a:moveTo>
                  <a:lnTo>
                    <a:pt x="10648982" y="0"/>
                  </a:lnTo>
                  <a:lnTo>
                    <a:pt x="10648982" y="7986736"/>
                  </a:lnTo>
                  <a:lnTo>
                    <a:pt x="0" y="798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328837" y="0"/>
              <a:ext cx="10648982" cy="7986736"/>
            </a:xfrm>
            <a:custGeom>
              <a:avLst/>
              <a:gdLst/>
              <a:ahLst/>
              <a:cxnLst/>
              <a:rect l="l" t="t" r="r" b="b"/>
              <a:pathLst>
                <a:path w="10648982" h="7986736">
                  <a:moveTo>
                    <a:pt x="0" y="0"/>
                  </a:moveTo>
                  <a:lnTo>
                    <a:pt x="10648981" y="0"/>
                  </a:lnTo>
                  <a:lnTo>
                    <a:pt x="10648981" y="7986736"/>
                  </a:lnTo>
                  <a:lnTo>
                    <a:pt x="0" y="798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761014" y="310161"/>
            <a:ext cx="14765971" cy="1437078"/>
            <a:chOff x="0" y="0"/>
            <a:chExt cx="19687962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87961" cy="1916104"/>
            </a:xfrm>
            <a:custGeom>
              <a:avLst/>
              <a:gdLst/>
              <a:ahLst/>
              <a:cxnLst/>
              <a:rect l="l" t="t" r="r" b="b"/>
              <a:pathLst>
                <a:path w="19687961" h="1916104">
                  <a:moveTo>
                    <a:pt x="0" y="0"/>
                  </a:moveTo>
                  <a:lnTo>
                    <a:pt x="19687961" y="0"/>
                  </a:lnTo>
                  <a:lnTo>
                    <a:pt x="19687961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6822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9687962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Mathematical Model - 4 - Tight Time budget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2035439"/>
            <a:ext cx="8382753" cy="6737638"/>
          </a:xfrm>
          <a:custGeom>
            <a:avLst/>
            <a:gdLst/>
            <a:ahLst/>
            <a:cxnLst/>
            <a:rect l="l" t="t" r="r" b="b"/>
            <a:pathLst>
              <a:path w="8382753" h="6737638">
                <a:moveTo>
                  <a:pt x="0" y="0"/>
                </a:moveTo>
                <a:lnTo>
                  <a:pt x="8382753" y="0"/>
                </a:lnTo>
                <a:lnTo>
                  <a:pt x="8382753" y="6737637"/>
                </a:lnTo>
                <a:lnTo>
                  <a:pt x="0" y="67376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568257" y="2035439"/>
            <a:ext cx="6943457" cy="6737638"/>
          </a:xfrm>
          <a:custGeom>
            <a:avLst/>
            <a:gdLst/>
            <a:ahLst/>
            <a:cxnLst/>
            <a:rect l="l" t="t" r="r" b="b"/>
            <a:pathLst>
              <a:path w="6943457" h="6737638">
                <a:moveTo>
                  <a:pt x="0" y="0"/>
                </a:moveTo>
                <a:lnTo>
                  <a:pt x="6943457" y="0"/>
                </a:lnTo>
                <a:lnTo>
                  <a:pt x="6943457" y="6737637"/>
                </a:lnTo>
                <a:lnTo>
                  <a:pt x="0" y="67376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772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11608" y="2475061"/>
            <a:ext cx="16664783" cy="6046672"/>
            <a:chOff x="0" y="0"/>
            <a:chExt cx="22219711" cy="8062230"/>
          </a:xfrm>
        </p:grpSpPr>
        <p:sp>
          <p:nvSpPr>
            <p:cNvPr id="11" name="Freeform 11"/>
            <p:cNvSpPr/>
            <p:nvPr/>
          </p:nvSpPr>
          <p:spPr>
            <a:xfrm>
              <a:off x="11470071" y="0"/>
              <a:ext cx="10749640" cy="8062230"/>
            </a:xfrm>
            <a:custGeom>
              <a:avLst/>
              <a:gdLst/>
              <a:ahLst/>
              <a:cxnLst/>
              <a:rect l="l" t="t" r="r" b="b"/>
              <a:pathLst>
                <a:path w="10749640" h="8062230">
                  <a:moveTo>
                    <a:pt x="0" y="0"/>
                  </a:moveTo>
                  <a:lnTo>
                    <a:pt x="10749640" y="0"/>
                  </a:lnTo>
                  <a:lnTo>
                    <a:pt x="10749640" y="8062230"/>
                  </a:lnTo>
                  <a:lnTo>
                    <a:pt x="0" y="8062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0749640" cy="8062230"/>
            </a:xfrm>
            <a:custGeom>
              <a:avLst/>
              <a:gdLst/>
              <a:ahLst/>
              <a:cxnLst/>
              <a:rect l="l" t="t" r="r" b="b"/>
              <a:pathLst>
                <a:path w="10749640" h="8062230">
                  <a:moveTo>
                    <a:pt x="0" y="0"/>
                  </a:moveTo>
                  <a:lnTo>
                    <a:pt x="10749640" y="0"/>
                  </a:lnTo>
                  <a:lnTo>
                    <a:pt x="10749640" y="8062230"/>
                  </a:lnTo>
                  <a:lnTo>
                    <a:pt x="0" y="8062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761014" y="310161"/>
            <a:ext cx="14765971" cy="1437078"/>
            <a:chOff x="0" y="0"/>
            <a:chExt cx="19687962" cy="191610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687961" cy="1916104"/>
            </a:xfrm>
            <a:custGeom>
              <a:avLst/>
              <a:gdLst/>
              <a:ahLst/>
              <a:cxnLst/>
              <a:rect l="l" t="t" r="r" b="b"/>
              <a:pathLst>
                <a:path w="19687961" h="1916104">
                  <a:moveTo>
                    <a:pt x="0" y="0"/>
                  </a:moveTo>
                  <a:lnTo>
                    <a:pt x="19687961" y="0"/>
                  </a:lnTo>
                  <a:lnTo>
                    <a:pt x="19687961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64986" r="-6822" b="-26275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57150"/>
              <a:ext cx="19687962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Mathematical Model - 5 - Tight Time budget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501299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Deterministic Approach - 1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56795" y="3312292"/>
            <a:ext cx="13882166" cy="4372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Converts a stochastic (random) network to a static, deterministic model.</a:t>
            </a:r>
          </a:p>
          <a:p>
            <a:pPr algn="l">
              <a:lnSpc>
                <a:spcPts val="3840"/>
              </a:lnSpc>
            </a:pPr>
            <a:endParaRPr lang="en-US" sz="32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Formulates a road network as a graph G(V, E).</a:t>
            </a:r>
          </a:p>
          <a:p>
            <a:pPr algn="l">
              <a:lnSpc>
                <a:spcPts val="3840"/>
              </a:lnSpc>
            </a:pPr>
            <a:endParaRPr lang="en-US" sz="32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Assigns Expected Travel Time E[T] to each road.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E[T] = ∑t∙P(t)</a:t>
            </a:r>
          </a:p>
          <a:p>
            <a:pPr algn="l">
              <a:lnSpc>
                <a:spcPts val="3840"/>
              </a:lnSpc>
            </a:pPr>
            <a:endParaRPr lang="en-US" sz="32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Assumes travel times to be fixed constants.</a:t>
            </a:r>
          </a:p>
          <a:p>
            <a:pPr algn="l">
              <a:lnSpc>
                <a:spcPts val="3840"/>
              </a:lnSpc>
            </a:pPr>
            <a:endParaRPr lang="en-US" sz="32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975691" y="1938377"/>
            <a:ext cx="8336618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93329" y="501299"/>
            <a:ext cx="13301343" cy="1437078"/>
            <a:chOff x="0" y="0"/>
            <a:chExt cx="17735123" cy="19161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Deterministic Approach - 2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54681" y="3508040"/>
            <a:ext cx="15178639" cy="4114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Objective is to compute the Least Expected Travel Time (LET) path.</a:t>
            </a: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Employs Dijkstra’s Algorithm along with a priority queue data structure, heap.</a:t>
            </a: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Assigns expected weights to all the edges.</a:t>
            </a: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Finds a path with minimum expected travel time.</a:t>
            </a: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975691" y="1938377"/>
            <a:ext cx="8336618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93329" y="501299"/>
            <a:ext cx="13301343" cy="1437078"/>
            <a:chOff x="0" y="0"/>
            <a:chExt cx="17735123" cy="19161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Deterministic Approach - 3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0845771" y="3846399"/>
            <a:ext cx="7200549" cy="1683541"/>
          </a:xfrm>
          <a:custGeom>
            <a:avLst/>
            <a:gdLst/>
            <a:ahLst/>
            <a:cxnLst/>
            <a:rect l="l" t="t" r="r" b="b"/>
            <a:pathLst>
              <a:path w="7200549" h="1683541">
                <a:moveTo>
                  <a:pt x="0" y="0"/>
                </a:moveTo>
                <a:lnTo>
                  <a:pt x="7200549" y="0"/>
                </a:lnTo>
                <a:lnTo>
                  <a:pt x="7200549" y="1683541"/>
                </a:lnTo>
                <a:lnTo>
                  <a:pt x="0" y="1683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975691" y="1938377"/>
            <a:ext cx="8336618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Mathematical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8310" y="7661246"/>
            <a:ext cx="96045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Nothing but a Deterministic Routing Problem!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6637" y="3450548"/>
            <a:ext cx="9532791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Weighted Directed Graph, </a:t>
            </a:r>
            <a:r>
              <a:rPr lang="en-US" sz="3399" b="1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 = (V, 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6637" y="5300951"/>
            <a:ext cx="7307908" cy="107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 any edge, ω represents a </a:t>
            </a:r>
            <a:r>
              <a:rPr lang="en-US" sz="3399" b="1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Fixed</a:t>
            </a:r>
            <a:r>
              <a:rPr lang="en-US" sz="3399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</a:t>
            </a:r>
            <a:r>
              <a:rPr lang="en-US" sz="3399" b="1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Positive Scalar</a:t>
            </a:r>
            <a:r>
              <a:rPr lang="en-US" sz="3399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value.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6637" y="4398609"/>
            <a:ext cx="9532791" cy="514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Deterministic Weight Function : ω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856094" y="6250372"/>
            <a:ext cx="5179904" cy="3393247"/>
            <a:chOff x="0" y="0"/>
            <a:chExt cx="6906539" cy="4524330"/>
          </a:xfrm>
        </p:grpSpPr>
        <p:sp>
          <p:nvSpPr>
            <p:cNvPr id="12" name="AutoShape 12"/>
            <p:cNvSpPr/>
            <p:nvPr/>
          </p:nvSpPr>
          <p:spPr>
            <a:xfrm flipH="1">
              <a:off x="2872396" y="844783"/>
              <a:ext cx="4034142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91300" y="2556154"/>
              <a:ext cx="3596335" cy="1968176"/>
            </a:xfrm>
            <a:custGeom>
              <a:avLst/>
              <a:gdLst/>
              <a:ahLst/>
              <a:cxnLst/>
              <a:rect l="l" t="t" r="r" b="b"/>
              <a:pathLst>
                <a:path w="3596335" h="1968176">
                  <a:moveTo>
                    <a:pt x="0" y="0"/>
                  </a:moveTo>
                  <a:lnTo>
                    <a:pt x="3596335" y="0"/>
                  </a:lnTo>
                  <a:lnTo>
                    <a:pt x="3596335" y="1968176"/>
                  </a:lnTo>
                  <a:lnTo>
                    <a:pt x="0" y="1968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504942"/>
              <a:ext cx="2279754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46494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ω(u, v) =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49590" y="0"/>
              <a:ext cx="2279754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46494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Distance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72396" y="1009883"/>
              <a:ext cx="4034142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46494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Average Speed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72396" y="2854442"/>
              <a:ext cx="4034142" cy="1371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46494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Expected Travel Time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854442"/>
              <a:ext cx="2279754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46494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ω(u, v) = 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2571" t="-164491" r="-72154" b="-164855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93329" y="501299"/>
            <a:ext cx="13301343" cy="1437078"/>
            <a:chOff x="0" y="0"/>
            <a:chExt cx="17735123" cy="19161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Deterministic Approach - 4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649479" y="7982031"/>
            <a:ext cx="12989042" cy="746870"/>
          </a:xfrm>
          <a:custGeom>
            <a:avLst/>
            <a:gdLst/>
            <a:ahLst/>
            <a:cxnLst/>
            <a:rect l="l" t="t" r="r" b="b"/>
            <a:pathLst>
              <a:path w="12989042" h="746870">
                <a:moveTo>
                  <a:pt x="0" y="0"/>
                </a:moveTo>
                <a:lnTo>
                  <a:pt x="12989042" y="0"/>
                </a:lnTo>
                <a:lnTo>
                  <a:pt x="12989042" y="746870"/>
                </a:lnTo>
                <a:lnTo>
                  <a:pt x="0" y="746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072592" y="3936192"/>
            <a:ext cx="6152380" cy="710245"/>
          </a:xfrm>
          <a:custGeom>
            <a:avLst/>
            <a:gdLst/>
            <a:ahLst/>
            <a:cxnLst/>
            <a:rect l="l" t="t" r="r" b="b"/>
            <a:pathLst>
              <a:path w="6152380" h="710245">
                <a:moveTo>
                  <a:pt x="0" y="0"/>
                </a:moveTo>
                <a:lnTo>
                  <a:pt x="6152380" y="0"/>
                </a:lnTo>
                <a:lnTo>
                  <a:pt x="6152380" y="710244"/>
                </a:lnTo>
                <a:lnTo>
                  <a:pt x="0" y="710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75691" y="1938377"/>
            <a:ext cx="8336618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Mathematical Principle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80082" y="4389261"/>
            <a:ext cx="853700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principle suggests that: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24741" y="3229116"/>
            <a:ext cx="7412606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Bellman’s Principle of Optimality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49721" y="5143500"/>
            <a:ext cx="13575251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a path P is the shortest path between source node 9s) and destination node (d), then any subpath of P is also the shortest path between it’s respective endpoints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80082" y="7286625"/>
            <a:ext cx="853700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Code Snippet (Using Networkx Library):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501299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Randomized Approach - 1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975691" y="2682364"/>
            <a:ext cx="8336618" cy="112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A* Heuristic Algorithm / Path Based SOTA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98078" y="4369580"/>
            <a:ext cx="305039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Policy Based SOTA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88821" y="4602480"/>
            <a:ext cx="3034444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Path Search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2581" y="7163625"/>
            <a:ext cx="3050396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Convolution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44275" y="6893115"/>
            <a:ext cx="422264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Priority Queue for the Most Promising Path</a:t>
            </a:r>
          </a:p>
        </p:txBody>
      </p:sp>
      <p:sp>
        <p:nvSpPr>
          <p:cNvPr id="18" name="AutoShape 18"/>
          <p:cNvSpPr/>
          <p:nvPr/>
        </p:nvSpPr>
        <p:spPr>
          <a:xfrm flipH="1">
            <a:off x="6948474" y="3802504"/>
            <a:ext cx="2195526" cy="6511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9144000" y="3802504"/>
            <a:ext cx="2321441" cy="7999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H="1">
            <a:off x="3087779" y="5341130"/>
            <a:ext cx="2335497" cy="18224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2906043" y="5088255"/>
            <a:ext cx="1949555" cy="18048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6093604" y="7163625"/>
            <a:ext cx="305039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649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Dynamic Programming</a:t>
            </a:r>
          </a:p>
        </p:txBody>
      </p:sp>
      <p:sp>
        <p:nvSpPr>
          <p:cNvPr id="23" name="AutoShape 23"/>
          <p:cNvSpPr/>
          <p:nvPr/>
        </p:nvSpPr>
        <p:spPr>
          <a:xfrm>
            <a:off x="5423276" y="5341130"/>
            <a:ext cx="2195526" cy="18224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501299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Randomized Approach - 2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6187192" y="4282839"/>
            <a:ext cx="5913615" cy="1410916"/>
          </a:xfrm>
          <a:custGeom>
            <a:avLst/>
            <a:gdLst/>
            <a:ahLst/>
            <a:cxnLst/>
            <a:rect l="l" t="t" r="r" b="b"/>
            <a:pathLst>
              <a:path w="5913615" h="1410916">
                <a:moveTo>
                  <a:pt x="0" y="0"/>
                </a:moveTo>
                <a:lnTo>
                  <a:pt x="5913616" y="0"/>
                </a:lnTo>
                <a:lnTo>
                  <a:pt x="5913616" y="1410917"/>
                </a:lnTo>
                <a:lnTo>
                  <a:pt x="0" y="1410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159" b="-6079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17519" y="6734808"/>
            <a:ext cx="1405296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 be Interpreted as 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17519" y="7437928"/>
            <a:ext cx="1405296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Combines the probability of reaching an intermediate node with the probability of reaching the destination after that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86942" y="4750172"/>
            <a:ext cx="2205539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Heuristic: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69919" y="2621365"/>
            <a:ext cx="1405296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Niknami &amp; Samaranayake (2016) propose that the solution to the policy-based SOTA problem is used as a search heuristic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780607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Randomized Approach - 3 - a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294484" y="3347429"/>
            <a:ext cx="15699032" cy="4581246"/>
          </a:xfrm>
          <a:custGeom>
            <a:avLst/>
            <a:gdLst/>
            <a:ahLst/>
            <a:cxnLst/>
            <a:rect l="l" t="t" r="r" b="b"/>
            <a:pathLst>
              <a:path w="15699032" h="4581246">
                <a:moveTo>
                  <a:pt x="0" y="0"/>
                </a:moveTo>
                <a:lnTo>
                  <a:pt x="15699032" y="0"/>
                </a:lnTo>
                <a:lnTo>
                  <a:pt x="15699032" y="4581245"/>
                </a:lnTo>
                <a:lnTo>
                  <a:pt x="0" y="45812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9" t="-2642" b="-1525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780607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Randomized Approach - 3 - b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335260" y="3358636"/>
            <a:ext cx="11930047" cy="4995707"/>
          </a:xfrm>
          <a:custGeom>
            <a:avLst/>
            <a:gdLst/>
            <a:ahLst/>
            <a:cxnLst/>
            <a:rect l="l" t="t" r="r" b="b"/>
            <a:pathLst>
              <a:path w="11930047" h="4995707">
                <a:moveTo>
                  <a:pt x="0" y="0"/>
                </a:moveTo>
                <a:lnTo>
                  <a:pt x="11930047" y="0"/>
                </a:lnTo>
                <a:lnTo>
                  <a:pt x="11930047" y="4995707"/>
                </a:lnTo>
                <a:lnTo>
                  <a:pt x="0" y="4995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2529961"/>
            <a:ext cx="1405296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Code Snippet: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399995" y="3296568"/>
            <a:ext cx="4789352" cy="5057775"/>
            <a:chOff x="0" y="0"/>
            <a:chExt cx="6385802" cy="67437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6160039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Reverse Travel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104900"/>
              <a:ext cx="6160039" cy="2057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Decreasing the remaining time left from the budget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3581400"/>
              <a:ext cx="6385802" cy="1371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Dynamically find the most reliable path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441" y="5372100"/>
              <a:ext cx="6272921" cy="1371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Assort using Priority Queue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780607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Randomized Approach - 4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49039" y="3066301"/>
            <a:ext cx="14389922" cy="514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Algorithm itself is Partially Random in nature.</a:t>
            </a: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Travel times of each node are Random </a:t>
            </a: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Algorithm is mixture of Policy Based SOTA and A* Heuristic Path Search</a:t>
            </a: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Which gives us the Path Based SOTA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780607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How much map to download ?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5880583" y="7783017"/>
            <a:ext cx="11074343" cy="1274308"/>
          </a:xfrm>
          <a:custGeom>
            <a:avLst/>
            <a:gdLst/>
            <a:ahLst/>
            <a:cxnLst/>
            <a:rect l="l" t="t" r="r" b="b"/>
            <a:pathLst>
              <a:path w="11074343" h="1274308">
                <a:moveTo>
                  <a:pt x="0" y="0"/>
                </a:moveTo>
                <a:lnTo>
                  <a:pt x="11074343" y="0"/>
                </a:lnTo>
                <a:lnTo>
                  <a:pt x="11074343" y="1274308"/>
                </a:lnTo>
                <a:lnTo>
                  <a:pt x="0" y="1274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621412" y="3807106"/>
            <a:ext cx="9168881" cy="2387582"/>
          </a:xfrm>
          <a:custGeom>
            <a:avLst/>
            <a:gdLst/>
            <a:ahLst/>
            <a:cxnLst/>
            <a:rect l="l" t="t" r="r" b="b"/>
            <a:pathLst>
              <a:path w="9168881" h="2387582">
                <a:moveTo>
                  <a:pt x="0" y="0"/>
                </a:moveTo>
                <a:lnTo>
                  <a:pt x="9168882" y="0"/>
                </a:lnTo>
                <a:lnTo>
                  <a:pt x="9168882" y="2387583"/>
                </a:lnTo>
                <a:lnTo>
                  <a:pt x="0" y="2387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80" r="-2080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25496" y="3343275"/>
            <a:ext cx="7207509" cy="360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use osmnx (Open Street Map) for geolocation</a:t>
            </a: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downloaded reference should be enough for the source, destination and a little buffer path (1.5 km) for the alternate routes.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4738" y="8162996"/>
            <a:ext cx="400709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Haversine Formula: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221184" y="601042"/>
            <a:ext cx="13845632" cy="1437078"/>
            <a:chOff x="0" y="0"/>
            <a:chExt cx="1846084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460844" cy="1916104"/>
            </a:xfrm>
            <a:custGeom>
              <a:avLst/>
              <a:gdLst/>
              <a:ahLst/>
              <a:cxnLst/>
              <a:rect l="l" t="t" r="r" b="b"/>
              <a:pathLst>
                <a:path w="18460844" h="1916104">
                  <a:moveTo>
                    <a:pt x="0" y="0"/>
                  </a:moveTo>
                  <a:lnTo>
                    <a:pt x="18460844" y="0"/>
                  </a:lnTo>
                  <a:lnTo>
                    <a:pt x="1846084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3923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846084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Coding and Simulation - 1 - Deterministic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857277" y="2635116"/>
            <a:ext cx="12573446" cy="6113838"/>
          </a:xfrm>
          <a:custGeom>
            <a:avLst/>
            <a:gdLst/>
            <a:ahLst/>
            <a:cxnLst/>
            <a:rect l="l" t="t" r="r" b="b"/>
            <a:pathLst>
              <a:path w="12573446" h="6113838">
                <a:moveTo>
                  <a:pt x="0" y="0"/>
                </a:moveTo>
                <a:lnTo>
                  <a:pt x="12573446" y="0"/>
                </a:lnTo>
                <a:lnTo>
                  <a:pt x="12573446" y="6113838"/>
                </a:lnTo>
                <a:lnTo>
                  <a:pt x="0" y="61138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357709" y="2896797"/>
            <a:ext cx="9930291" cy="2246703"/>
            <a:chOff x="0" y="0"/>
            <a:chExt cx="13240388" cy="29956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240389" cy="2995604"/>
            </a:xfrm>
            <a:custGeom>
              <a:avLst/>
              <a:gdLst/>
              <a:ahLst/>
              <a:cxnLst/>
              <a:rect l="l" t="t" r="r" b="b"/>
              <a:pathLst>
                <a:path w="13240389" h="2995604">
                  <a:moveTo>
                    <a:pt x="0" y="0"/>
                  </a:moveTo>
                  <a:lnTo>
                    <a:pt x="13240389" y="0"/>
                  </a:lnTo>
                  <a:lnTo>
                    <a:pt x="13240389" y="2995604"/>
                  </a:lnTo>
                  <a:lnTo>
                    <a:pt x="0" y="2995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567" r="-58841" b="-13202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3240388" cy="29384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Coding and Simulation - 2 Deterministic Visualization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586942" y="989171"/>
            <a:ext cx="5638428" cy="8308659"/>
          </a:xfrm>
          <a:custGeom>
            <a:avLst/>
            <a:gdLst/>
            <a:ahLst/>
            <a:cxnLst/>
            <a:rect l="l" t="t" r="r" b="b"/>
            <a:pathLst>
              <a:path w="5638428" h="8308659">
                <a:moveTo>
                  <a:pt x="0" y="0"/>
                </a:moveTo>
                <a:lnTo>
                  <a:pt x="5638428" y="0"/>
                </a:lnTo>
                <a:lnTo>
                  <a:pt x="5638428" y="8308658"/>
                </a:lnTo>
                <a:lnTo>
                  <a:pt x="0" y="83086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501299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Coding and Simulation - 3 - Randomized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721205" y="2332312"/>
            <a:ext cx="12845591" cy="6390681"/>
          </a:xfrm>
          <a:custGeom>
            <a:avLst/>
            <a:gdLst/>
            <a:ahLst/>
            <a:cxnLst/>
            <a:rect l="l" t="t" r="r" b="b"/>
            <a:pathLst>
              <a:path w="12845591" h="6390681">
                <a:moveTo>
                  <a:pt x="0" y="0"/>
                </a:moveTo>
                <a:lnTo>
                  <a:pt x="12845590" y="0"/>
                </a:lnTo>
                <a:lnTo>
                  <a:pt x="12845590" y="6390681"/>
                </a:lnTo>
                <a:lnTo>
                  <a:pt x="0" y="6390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144000" y="2896797"/>
            <a:ext cx="8564495" cy="2246703"/>
            <a:chOff x="0" y="0"/>
            <a:chExt cx="11419326" cy="29956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19326" cy="2995604"/>
            </a:xfrm>
            <a:custGeom>
              <a:avLst/>
              <a:gdLst/>
              <a:ahLst/>
              <a:cxnLst/>
              <a:rect l="l" t="t" r="r" b="b"/>
              <a:pathLst>
                <a:path w="11419326" h="2995604">
                  <a:moveTo>
                    <a:pt x="0" y="0"/>
                  </a:moveTo>
                  <a:lnTo>
                    <a:pt x="11419326" y="0"/>
                  </a:lnTo>
                  <a:lnTo>
                    <a:pt x="11419326" y="2995604"/>
                  </a:lnTo>
                  <a:lnTo>
                    <a:pt x="0" y="2995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567" r="-84171" b="-13202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1419326" cy="29384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Coding and Simulation - 4 Randomized Visualization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286000" y="1263473"/>
            <a:ext cx="6134045" cy="7760053"/>
          </a:xfrm>
          <a:custGeom>
            <a:avLst/>
            <a:gdLst/>
            <a:ahLst/>
            <a:cxnLst/>
            <a:rect l="l" t="t" r="r" b="b"/>
            <a:pathLst>
              <a:path w="6134045" h="7760053">
                <a:moveTo>
                  <a:pt x="0" y="0"/>
                </a:moveTo>
                <a:lnTo>
                  <a:pt x="6134045" y="0"/>
                </a:lnTo>
                <a:lnTo>
                  <a:pt x="6134045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454422" y="628257"/>
            <a:ext cx="5379156" cy="1437078"/>
            <a:chOff x="0" y="0"/>
            <a:chExt cx="7172207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72207" cy="1916104"/>
            </a:xfrm>
            <a:custGeom>
              <a:avLst/>
              <a:gdLst/>
              <a:ahLst/>
              <a:cxnLst/>
              <a:rect l="l" t="t" r="r" b="b"/>
              <a:pathLst>
                <a:path w="7172207" h="1916104">
                  <a:moveTo>
                    <a:pt x="0" y="0"/>
                  </a:moveTo>
                  <a:lnTo>
                    <a:pt x="7172207" y="0"/>
                  </a:lnTo>
                  <a:lnTo>
                    <a:pt x="7172207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93231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7172207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Result - 1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45515" y="1616341"/>
            <a:ext cx="11396971" cy="1112863"/>
            <a:chOff x="0" y="0"/>
            <a:chExt cx="15195961" cy="148381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195961" cy="1483817"/>
            </a:xfrm>
            <a:custGeom>
              <a:avLst/>
              <a:gdLst/>
              <a:ahLst/>
              <a:cxnLst/>
              <a:rect l="l" t="t" r="r" b="b"/>
              <a:pathLst>
                <a:path w="15195961" h="1483817">
                  <a:moveTo>
                    <a:pt x="0" y="0"/>
                  </a:moveTo>
                  <a:lnTo>
                    <a:pt x="15195961" y="0"/>
                  </a:lnTo>
                  <a:lnTo>
                    <a:pt x="15195961" y="1483817"/>
                  </a:lnTo>
                  <a:lnTo>
                    <a:pt x="0" y="14838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3918" r="-38399" b="-36843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47625"/>
              <a:ext cx="15195961" cy="143619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6"/>
                </a:lnSpc>
              </a:pPr>
              <a:r>
                <a:rPr lang="en-US" sz="42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Complexities (Worst Case) and Analysis</a:t>
              </a:r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1601622" y="3220545"/>
          <a:ext cx="15084757" cy="5602860"/>
        </p:xfrm>
        <a:graphic>
          <a:graphicData uri="http://schemas.openxmlformats.org/drawingml/2006/table">
            <a:tbl>
              <a:tblPr/>
              <a:tblGrid>
                <a:gridCol w="4291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2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8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0815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Algorithm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Space Complexity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Reason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Time Complexity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0351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Deterministic - Dijkstra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Polynomial Operations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5949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Randomized SOTA (A*)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Exponential Path Exploration Depending on the Heuristic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Freeform 17"/>
          <p:cNvSpPr/>
          <p:nvPr/>
        </p:nvSpPr>
        <p:spPr>
          <a:xfrm>
            <a:off x="10122568" y="6978916"/>
            <a:ext cx="1107413" cy="648242"/>
          </a:xfrm>
          <a:custGeom>
            <a:avLst/>
            <a:gdLst/>
            <a:ahLst/>
            <a:cxnLst/>
            <a:rect l="l" t="t" r="r" b="b"/>
            <a:pathLst>
              <a:path w="1107413" h="648242">
                <a:moveTo>
                  <a:pt x="0" y="0"/>
                </a:moveTo>
                <a:lnTo>
                  <a:pt x="1107414" y="0"/>
                </a:lnTo>
                <a:lnTo>
                  <a:pt x="1107414" y="648242"/>
                </a:lnTo>
                <a:lnTo>
                  <a:pt x="0" y="648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899170" y="6978916"/>
            <a:ext cx="1107413" cy="648242"/>
          </a:xfrm>
          <a:custGeom>
            <a:avLst/>
            <a:gdLst/>
            <a:ahLst/>
            <a:cxnLst/>
            <a:rect l="l" t="t" r="r" b="b"/>
            <a:pathLst>
              <a:path w="1107413" h="648242">
                <a:moveTo>
                  <a:pt x="0" y="0"/>
                </a:moveTo>
                <a:lnTo>
                  <a:pt x="1107414" y="0"/>
                </a:lnTo>
                <a:lnTo>
                  <a:pt x="1107414" y="648242"/>
                </a:lnTo>
                <a:lnTo>
                  <a:pt x="0" y="648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618196" y="5256125"/>
            <a:ext cx="2116157" cy="526645"/>
          </a:xfrm>
          <a:custGeom>
            <a:avLst/>
            <a:gdLst/>
            <a:ahLst/>
            <a:cxnLst/>
            <a:rect l="l" t="t" r="r" b="b"/>
            <a:pathLst>
              <a:path w="2116157" h="526645">
                <a:moveTo>
                  <a:pt x="0" y="0"/>
                </a:moveTo>
                <a:lnTo>
                  <a:pt x="2116158" y="0"/>
                </a:lnTo>
                <a:lnTo>
                  <a:pt x="2116158" y="526645"/>
                </a:lnTo>
                <a:lnTo>
                  <a:pt x="0" y="5266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107005" y="5256125"/>
            <a:ext cx="2691744" cy="526645"/>
          </a:xfrm>
          <a:custGeom>
            <a:avLst/>
            <a:gdLst/>
            <a:ahLst/>
            <a:cxnLst/>
            <a:rect l="l" t="t" r="r" b="b"/>
            <a:pathLst>
              <a:path w="2691744" h="526645">
                <a:moveTo>
                  <a:pt x="0" y="0"/>
                </a:moveTo>
                <a:lnTo>
                  <a:pt x="2691744" y="0"/>
                </a:lnTo>
                <a:lnTo>
                  <a:pt x="2691744" y="526645"/>
                </a:lnTo>
                <a:lnTo>
                  <a:pt x="0" y="5266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464" r="-5774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3305977" y="8633984"/>
            <a:ext cx="13633183" cy="1211628"/>
            <a:chOff x="0" y="0"/>
            <a:chExt cx="18177578" cy="1615504"/>
          </a:xfrm>
        </p:grpSpPr>
        <p:sp>
          <p:nvSpPr>
            <p:cNvPr id="22" name="TextBox 22"/>
            <p:cNvSpPr txBox="1"/>
            <p:nvPr/>
          </p:nvSpPr>
          <p:spPr>
            <a:xfrm>
              <a:off x="1259364" y="28575"/>
              <a:ext cx="4191953" cy="494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8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 = Number of Nodes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8493" y="598615"/>
              <a:ext cx="4153694" cy="494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8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= Number of Edges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080135"/>
              <a:ext cx="6710680" cy="494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8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 = Number of Waypoint Segments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85497" y="75882"/>
              <a:ext cx="7324090" cy="494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8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 = Maximum PMF length (tTimewise)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23906" y="598615"/>
              <a:ext cx="9053671" cy="494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8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 = branching factor (avg neighbours per node)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55547" y="1121347"/>
              <a:ext cx="4390390" cy="494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8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 = depth (path length)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454422" y="628257"/>
            <a:ext cx="5379156" cy="1437078"/>
            <a:chOff x="0" y="0"/>
            <a:chExt cx="7172207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72207" cy="1916104"/>
            </a:xfrm>
            <a:custGeom>
              <a:avLst/>
              <a:gdLst/>
              <a:ahLst/>
              <a:cxnLst/>
              <a:rect l="l" t="t" r="r" b="b"/>
              <a:pathLst>
                <a:path w="7172207" h="1916104">
                  <a:moveTo>
                    <a:pt x="0" y="0"/>
                  </a:moveTo>
                  <a:lnTo>
                    <a:pt x="7172207" y="0"/>
                  </a:lnTo>
                  <a:lnTo>
                    <a:pt x="7172207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93231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7172207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Result - 2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45515" y="1508904"/>
            <a:ext cx="11396971" cy="1112863"/>
            <a:chOff x="0" y="0"/>
            <a:chExt cx="15195961" cy="148381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195961" cy="1483817"/>
            </a:xfrm>
            <a:custGeom>
              <a:avLst/>
              <a:gdLst/>
              <a:ahLst/>
              <a:cxnLst/>
              <a:rect l="l" t="t" r="r" b="b"/>
              <a:pathLst>
                <a:path w="15195961" h="1483817">
                  <a:moveTo>
                    <a:pt x="0" y="0"/>
                  </a:moveTo>
                  <a:lnTo>
                    <a:pt x="15195961" y="0"/>
                  </a:lnTo>
                  <a:lnTo>
                    <a:pt x="15195961" y="1483817"/>
                  </a:lnTo>
                  <a:lnTo>
                    <a:pt x="0" y="14838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3918" r="-38399" b="-36843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47625"/>
              <a:ext cx="15195961" cy="143619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6"/>
                </a:lnSpc>
              </a:pPr>
              <a:r>
                <a:rPr lang="en-US" sz="42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Comparison and Conclusion</a:t>
              </a:r>
            </a:p>
          </p:txBody>
        </p:sp>
      </p:grpSp>
      <p:graphicFrame>
        <p:nvGraphicFramePr>
          <p:cNvPr id="16" name="Object 16"/>
          <p:cNvGraphicFramePr/>
          <p:nvPr/>
        </p:nvGraphicFramePr>
        <p:xfrm>
          <a:off x="1084886" y="2963324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9105900" imgH="5791200" progId="Excel.Sheet.12">
                  <p:embed/>
                </p:oleObj>
              </mc:Choice>
              <mc:Fallback>
                <p:oleObj name="Worksheet" r:id="rId5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4886" y="2963324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454422" y="628257"/>
            <a:ext cx="5379156" cy="1437078"/>
            <a:chOff x="0" y="0"/>
            <a:chExt cx="7172207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72207" cy="1916104"/>
            </a:xfrm>
            <a:custGeom>
              <a:avLst/>
              <a:gdLst/>
              <a:ahLst/>
              <a:cxnLst/>
              <a:rect l="l" t="t" r="r" b="b"/>
              <a:pathLst>
                <a:path w="7172207" h="1916104">
                  <a:moveTo>
                    <a:pt x="0" y="0"/>
                  </a:moveTo>
                  <a:lnTo>
                    <a:pt x="7172207" y="0"/>
                  </a:lnTo>
                  <a:lnTo>
                    <a:pt x="7172207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93231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7172207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Result - 3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45515" y="1508904"/>
            <a:ext cx="11396971" cy="1112863"/>
            <a:chOff x="0" y="0"/>
            <a:chExt cx="15195961" cy="148381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195961" cy="1483817"/>
            </a:xfrm>
            <a:custGeom>
              <a:avLst/>
              <a:gdLst/>
              <a:ahLst/>
              <a:cxnLst/>
              <a:rect l="l" t="t" r="r" b="b"/>
              <a:pathLst>
                <a:path w="15195961" h="1483817">
                  <a:moveTo>
                    <a:pt x="0" y="0"/>
                  </a:moveTo>
                  <a:lnTo>
                    <a:pt x="15195961" y="0"/>
                  </a:lnTo>
                  <a:lnTo>
                    <a:pt x="15195961" y="1483817"/>
                  </a:lnTo>
                  <a:lnTo>
                    <a:pt x="0" y="14838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3918" r="-38399" b="-36843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47625"/>
              <a:ext cx="15195961" cy="143619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6"/>
                </a:lnSpc>
              </a:pPr>
              <a:r>
                <a:rPr lang="en-US" sz="42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Comparison and Conclusion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117519" y="4139880"/>
            <a:ext cx="14052961" cy="360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Our goal in this project is to maximize the probability for arriving under the budget.</a:t>
            </a: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Quality of the result holds more priority compared to the Quantity.</a:t>
            </a:r>
          </a:p>
          <a:p>
            <a:pPr algn="l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Hence, Dijkstra maybe faster in terms of complexity but the randomized algorithm considers the real world uncertainty.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310161"/>
            <a:ext cx="13301343" cy="1437078"/>
            <a:chOff x="0" y="0"/>
            <a:chExt cx="17735123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1916104"/>
            </a:xfrm>
            <a:custGeom>
              <a:avLst/>
              <a:gdLst/>
              <a:ahLst/>
              <a:cxnLst/>
              <a:rect l="l" t="t" r="r" b="b"/>
              <a:pathLst>
                <a:path w="17735124" h="1916104">
                  <a:moveTo>
                    <a:pt x="0" y="0"/>
                  </a:moveTo>
                  <a:lnTo>
                    <a:pt x="17735124" y="0"/>
                  </a:lnTo>
                  <a:lnTo>
                    <a:pt x="1773512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1858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Inference: Domain Perspective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81631" y="2005726"/>
            <a:ext cx="16059188" cy="732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real-world transportation systems, minimizing expexted travel time does not guarantee reliable arrival due to uncertainty in edge travel times.</a:t>
            </a:r>
          </a:p>
          <a:p>
            <a:pPr algn="l">
              <a:lnSpc>
                <a:spcPts val="3672"/>
              </a:lnSpc>
            </a:pPr>
            <a:endParaRPr lang="en-US" sz="34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672"/>
              </a:lnSpc>
            </a:pPr>
            <a:endParaRPr lang="en-US" sz="34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Deterministic routing (LET) gives optimal average but low reliability</a:t>
            </a:r>
          </a:p>
          <a:p>
            <a:pPr algn="l">
              <a:lnSpc>
                <a:spcPts val="3672"/>
              </a:lnSpc>
            </a:pPr>
            <a:endParaRPr lang="en-US" sz="34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Travel time variability significantly affects on-time arrival probability</a:t>
            </a:r>
          </a:p>
          <a:p>
            <a:pPr algn="l">
              <a:lnSpc>
                <a:spcPts val="3672"/>
              </a:lnSpc>
            </a:pPr>
            <a:endParaRPr lang="en-US" sz="34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Jensen’s Inequality highlights that expectation-based decision underestimate risk</a:t>
            </a:r>
          </a:p>
          <a:p>
            <a:pPr algn="l">
              <a:lnSpc>
                <a:spcPts val="3672"/>
              </a:lnSpc>
            </a:pPr>
            <a:endParaRPr lang="en-US" sz="34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Reliability-based routing (max P(T≤D)) better captures real-world uncertainty</a:t>
            </a:r>
          </a:p>
          <a:p>
            <a:pPr algn="l">
              <a:lnSpc>
                <a:spcPts val="3672"/>
              </a:lnSpc>
            </a:pPr>
            <a:endParaRPr lang="en-US" sz="34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Practical routing systems must prioritize robustness over average-case optimality</a:t>
            </a:r>
          </a:p>
          <a:p>
            <a:pPr algn="l">
              <a:lnSpc>
                <a:spcPts val="3672"/>
              </a:lnSpc>
            </a:pPr>
            <a:endParaRPr lang="en-US" sz="34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672"/>
              </a:lnSpc>
            </a:pPr>
            <a:endParaRPr lang="en-US" sz="34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3672"/>
              </a:lnSpc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Expected Time ≠ Reliable Arrival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93329" y="501299"/>
            <a:ext cx="13301343" cy="2246703"/>
            <a:chOff x="0" y="0"/>
            <a:chExt cx="17735123" cy="29956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735124" cy="2995604"/>
            </a:xfrm>
            <a:custGeom>
              <a:avLst/>
              <a:gdLst/>
              <a:ahLst/>
              <a:cxnLst/>
              <a:rect l="l" t="t" r="r" b="b"/>
              <a:pathLst>
                <a:path w="17735124" h="2995604">
                  <a:moveTo>
                    <a:pt x="0" y="0"/>
                  </a:moveTo>
                  <a:lnTo>
                    <a:pt x="17735124" y="0"/>
                  </a:lnTo>
                  <a:lnTo>
                    <a:pt x="17735124" y="2995604"/>
                  </a:lnTo>
                  <a:lnTo>
                    <a:pt x="0" y="2995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567" r="-18585" b="-13202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735123" cy="29384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Inference: Computer Science Perspective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3425515"/>
            <a:ext cx="6556962" cy="412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Paradigm Shift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Deterministic → Probabilistic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Mean → Reliability</a:t>
            </a:r>
          </a:p>
          <a:p>
            <a:pPr algn="l">
              <a:lnSpc>
                <a:spcPts val="3672"/>
              </a:lnSpc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System Design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Handles uncertainty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Risk-aware decisions</a:t>
            </a:r>
          </a:p>
          <a:p>
            <a:pPr algn="l">
              <a:lnSpc>
                <a:spcPts val="3672"/>
              </a:lnSpc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Industry Impact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Google Maps / Uber / Ola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Reliable route &gt; Shortest route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02338" y="3425515"/>
            <a:ext cx="6556962" cy="412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Tech Stack Insight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Graphs + Probability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A* + Dynamic Programming</a:t>
            </a:r>
          </a:p>
          <a:p>
            <a:pPr algn="l">
              <a:lnSpc>
                <a:spcPts val="3672"/>
              </a:lnSpc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Trade-off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Deterministic: Fast, unrealistic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SOTA: Complex, reliable</a:t>
            </a:r>
          </a:p>
          <a:p>
            <a:pPr algn="l">
              <a:lnSpc>
                <a:spcPts val="3672"/>
              </a:lnSpc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Key Takeaway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Optimize P(T ≤ D)</a:t>
            </a:r>
          </a:p>
          <a:p>
            <a:pPr marL="734071" lvl="1" indent="-367035" algn="l">
              <a:lnSpc>
                <a:spcPts val="36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Reliability &gt; Optimality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037619" y="521962"/>
            <a:ext cx="12212763" cy="1437078"/>
            <a:chOff x="0" y="0"/>
            <a:chExt cx="16283684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283684" cy="1916104"/>
            </a:xfrm>
            <a:custGeom>
              <a:avLst/>
              <a:gdLst/>
              <a:ahLst/>
              <a:cxnLst/>
              <a:rect l="l" t="t" r="r" b="b"/>
              <a:pathLst>
                <a:path w="16283684" h="191610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2915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6283684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References and Source - 01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27414" y="2111688"/>
            <a:ext cx="13433173" cy="1942309"/>
            <a:chOff x="0" y="0"/>
            <a:chExt cx="17910897" cy="258974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487131"/>
              <a:ext cx="17910897" cy="11026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Niknami, M. and Samaranayake, S. (2016). Tractable Pathfinding for the Stochastic on-time Arrival Problem. In: Springer. pp.231–245.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247424" y="0"/>
              <a:ext cx="7416050" cy="1266396"/>
              <a:chOff x="0" y="0"/>
              <a:chExt cx="7416050" cy="126639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416050" cy="1266396"/>
              </a:xfrm>
              <a:custGeom>
                <a:avLst/>
                <a:gdLst/>
                <a:ahLst/>
                <a:cxnLst/>
                <a:rect l="l" t="t" r="r" b="b"/>
                <a:pathLst>
                  <a:path w="7416050" h="1266396">
                    <a:moveTo>
                      <a:pt x="0" y="0"/>
                    </a:moveTo>
                    <a:lnTo>
                      <a:pt x="7416050" y="0"/>
                    </a:lnTo>
                    <a:lnTo>
                      <a:pt x="7416050" y="1266396"/>
                    </a:lnTo>
                    <a:lnTo>
                      <a:pt x="0" y="12663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98326" r="-183590" b="-448854"/>
                </a:stretch>
              </a:blip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47625"/>
                <a:ext cx="7416050" cy="1218771"/>
              </a:xfrm>
              <a:prstGeom prst="rect">
                <a:avLst/>
              </a:prstGeom>
            </p:spPr>
            <p:txBody>
              <a:bodyPr lIns="0" tIns="0" rIns="0" bIns="0" rtlCol="0" anchor="b"/>
              <a:lstStyle/>
              <a:p>
                <a:pPr algn="ctr">
                  <a:lnSpc>
                    <a:spcPts val="3888"/>
                  </a:lnSpc>
                </a:pPr>
                <a:r>
                  <a:rPr lang="en-US" sz="3600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Problem Reference</a:t>
                </a:r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2427414" y="4640026"/>
            <a:ext cx="13433173" cy="1798843"/>
            <a:chOff x="0" y="0"/>
            <a:chExt cx="17910897" cy="2398457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295843"/>
              <a:ext cx="17910897" cy="11026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Roșu, I. (2002). The Bellman principle of optimality [Unpublished manuscript]. HEC Paris. </a:t>
              </a:r>
              <a:r>
                <a:rPr lang="en-US" sz="2700" b="1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5" tooltip="https://people.hec.edu/rosu/wp-content/uploads/sites/43/2022/02/bellman.pdf"/>
                </a:rPr>
                <a:t>Link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351444" y="0"/>
              <a:ext cx="9585111" cy="1266396"/>
              <a:chOff x="0" y="0"/>
              <a:chExt cx="9585111" cy="126639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9585111" cy="1266396"/>
              </a:xfrm>
              <a:custGeom>
                <a:avLst/>
                <a:gdLst/>
                <a:ahLst/>
                <a:cxnLst/>
                <a:rect l="l" t="t" r="r" b="b"/>
                <a:pathLst>
                  <a:path w="9585111" h="1266396">
                    <a:moveTo>
                      <a:pt x="0" y="0"/>
                    </a:moveTo>
                    <a:lnTo>
                      <a:pt x="9585111" y="0"/>
                    </a:lnTo>
                    <a:lnTo>
                      <a:pt x="9585111" y="1266396"/>
                    </a:lnTo>
                    <a:lnTo>
                      <a:pt x="0" y="12663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98326" r="-119415" b="-448854"/>
                </a:stretch>
              </a:blip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47625"/>
                <a:ext cx="9585111" cy="1218771"/>
              </a:xfrm>
              <a:prstGeom prst="rect">
                <a:avLst/>
              </a:prstGeom>
            </p:spPr>
            <p:txBody>
              <a:bodyPr lIns="0" tIns="0" rIns="0" bIns="0" rtlCol="0" anchor="b"/>
              <a:lstStyle/>
              <a:p>
                <a:pPr algn="ctr">
                  <a:lnSpc>
                    <a:spcPts val="3888"/>
                  </a:lnSpc>
                </a:pPr>
                <a:r>
                  <a:rPr lang="en-US" sz="3600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Bellman Reference</a:t>
                </a:r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2427414" y="6849222"/>
            <a:ext cx="13433173" cy="1798843"/>
            <a:chOff x="0" y="0"/>
            <a:chExt cx="17910897" cy="2398457"/>
          </a:xfrm>
        </p:grpSpPr>
        <p:sp>
          <p:nvSpPr>
            <p:cNvPr id="24" name="TextBox 24"/>
            <p:cNvSpPr txBox="1"/>
            <p:nvPr/>
          </p:nvSpPr>
          <p:spPr>
            <a:xfrm>
              <a:off x="0" y="1295843"/>
              <a:ext cx="17910897" cy="11026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GeeksforGeeks. (n.d.). Haversine formula to find distance between two points on a sphere. Retrieved March 31, 2026, from </a:t>
              </a:r>
              <a:r>
                <a:rPr lang="en-US" sz="2700" b="1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6" tooltip="https://www.geeksforgeeks.org/dsa/haversine-formula-to-find-distance-between-two-points-on-a-sphere/"/>
                </a:rPr>
                <a:t>GeeksForGeeks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4351444" y="0"/>
              <a:ext cx="9585111" cy="1266396"/>
              <a:chOff x="0" y="0"/>
              <a:chExt cx="9585111" cy="126639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9585111" cy="1266396"/>
              </a:xfrm>
              <a:custGeom>
                <a:avLst/>
                <a:gdLst/>
                <a:ahLst/>
                <a:cxnLst/>
                <a:rect l="l" t="t" r="r" b="b"/>
                <a:pathLst>
                  <a:path w="9585111" h="1266396">
                    <a:moveTo>
                      <a:pt x="0" y="0"/>
                    </a:moveTo>
                    <a:lnTo>
                      <a:pt x="9585111" y="0"/>
                    </a:lnTo>
                    <a:lnTo>
                      <a:pt x="9585111" y="1266396"/>
                    </a:lnTo>
                    <a:lnTo>
                      <a:pt x="0" y="12663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98326" r="-119415" b="-448854"/>
                </a:stretch>
              </a:blip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47625"/>
                <a:ext cx="9585111" cy="1218771"/>
              </a:xfrm>
              <a:prstGeom prst="rect">
                <a:avLst/>
              </a:prstGeom>
            </p:spPr>
            <p:txBody>
              <a:bodyPr lIns="0" tIns="0" rIns="0" bIns="0" rtlCol="0" anchor="b"/>
              <a:lstStyle/>
              <a:p>
                <a:pPr algn="ctr">
                  <a:lnSpc>
                    <a:spcPts val="3888"/>
                  </a:lnSpc>
                </a:pPr>
                <a:r>
                  <a:rPr lang="en-US" sz="3600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Haversine Reference</a:t>
                </a: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037619" y="521962"/>
            <a:ext cx="12212763" cy="1437078"/>
            <a:chOff x="0" y="0"/>
            <a:chExt cx="16283684" cy="19161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283684" cy="1916104"/>
            </a:xfrm>
            <a:custGeom>
              <a:avLst/>
              <a:gdLst/>
              <a:ahLst/>
              <a:cxnLst/>
              <a:rect l="l" t="t" r="r" b="b"/>
              <a:pathLst>
                <a:path w="16283684" h="191610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986" r="-29155" b="-2627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6283684" cy="18589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References and Source - 02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27414" y="5262084"/>
            <a:ext cx="13433173" cy="3796334"/>
            <a:chOff x="0" y="0"/>
            <a:chExt cx="17910897" cy="5061778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285446"/>
              <a:ext cx="17910897" cy="5692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GitHub Repositroy link for the Deterministic Dijkstra Simulation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247424" y="0"/>
              <a:ext cx="7416050" cy="1266396"/>
              <a:chOff x="0" y="0"/>
              <a:chExt cx="7416050" cy="126639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416050" cy="1266396"/>
              </a:xfrm>
              <a:custGeom>
                <a:avLst/>
                <a:gdLst/>
                <a:ahLst/>
                <a:cxnLst/>
                <a:rect l="l" t="t" r="r" b="b"/>
                <a:pathLst>
                  <a:path w="7416050" h="1266396">
                    <a:moveTo>
                      <a:pt x="0" y="0"/>
                    </a:moveTo>
                    <a:lnTo>
                      <a:pt x="7416050" y="0"/>
                    </a:lnTo>
                    <a:lnTo>
                      <a:pt x="7416050" y="1266396"/>
                    </a:lnTo>
                    <a:lnTo>
                      <a:pt x="0" y="12663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98326" r="-183590" b="-448854"/>
                </a:stretch>
              </a:blip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47625"/>
                <a:ext cx="7416050" cy="1218771"/>
              </a:xfrm>
              <a:prstGeom prst="rect">
                <a:avLst/>
              </a:prstGeom>
            </p:spPr>
            <p:txBody>
              <a:bodyPr lIns="0" tIns="0" rIns="0" bIns="0" rtlCol="0" anchor="b"/>
              <a:lstStyle/>
              <a:p>
                <a:pPr algn="ctr">
                  <a:lnSpc>
                    <a:spcPts val="3888"/>
                  </a:lnSpc>
                </a:pPr>
                <a:r>
                  <a:rPr lang="en-US" sz="3600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Our Repository</a:t>
                </a:r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4305563" y="3106277"/>
            <a:ext cx="5562037" cy="949797"/>
            <a:chOff x="0" y="0"/>
            <a:chExt cx="7416050" cy="12663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16050" cy="1266396"/>
            </a:xfrm>
            <a:custGeom>
              <a:avLst/>
              <a:gdLst/>
              <a:ahLst/>
              <a:cxnLst/>
              <a:rect l="l" t="t" r="r" b="b"/>
              <a:pathLst>
                <a:path w="7416050" h="1266396">
                  <a:moveTo>
                    <a:pt x="0" y="0"/>
                  </a:moveTo>
                  <a:lnTo>
                    <a:pt x="7416050" y="0"/>
                  </a:lnTo>
                  <a:lnTo>
                    <a:pt x="7416050" y="1266396"/>
                  </a:lnTo>
                  <a:lnTo>
                    <a:pt x="0" y="12663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326" r="-183590" b="-448854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47625"/>
              <a:ext cx="7416050" cy="121877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888"/>
                </a:lnSpc>
              </a:pPr>
              <a:r>
                <a:rPr lang="en-US" sz="3600" b="1" dirty="0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Reference Repository :</a:t>
              </a:r>
            </a:p>
          </p:txBody>
        </p:sp>
      </p:grpSp>
      <p:sp>
        <p:nvSpPr>
          <p:cNvPr id="21" name="Rectangle 1">
            <a:extLst>
              <a:ext uri="{FF2B5EF4-FFF2-40B4-BE49-F238E27FC236}">
                <a16:creationId xmlns:a16="http://schemas.microsoft.com/office/drawing/2014/main" id="{755A852B-61F8-FD22-EA53-64255E6F8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B4C1E09D-739B-4732-4C75-E1A555746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69C152-165B-63FC-542A-1B9576936BF0}"/>
              </a:ext>
            </a:extLst>
          </p:cNvPr>
          <p:cNvSpPr txBox="1"/>
          <p:nvPr/>
        </p:nvSpPr>
        <p:spPr>
          <a:xfrm>
            <a:off x="9677400" y="3466888"/>
            <a:ext cx="10198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hlinkClick r:id="rId5"/>
              </a:rPr>
              <a:t>Link</a:t>
            </a:r>
            <a:endParaRPr lang="en-IN" sz="4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1B55B3-37CF-6286-8FD3-54EBC3FC5EBD}"/>
              </a:ext>
            </a:extLst>
          </p:cNvPr>
          <p:cNvSpPr txBox="1"/>
          <p:nvPr/>
        </p:nvSpPr>
        <p:spPr>
          <a:xfrm>
            <a:off x="8634084" y="7537594"/>
            <a:ext cx="10198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hlinkClick r:id="rId6"/>
              </a:rPr>
              <a:t>Link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1226</Words>
  <Application>Microsoft Office PowerPoint</Application>
  <PresentationFormat>Custom</PresentationFormat>
  <Paragraphs>200</Paragraphs>
  <Slides>30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Helvetica World Bold</vt:lpstr>
      <vt:lpstr>Helvetica World</vt:lpstr>
      <vt:lpstr>Canva Sans</vt:lpstr>
      <vt:lpstr>Calibri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S1_G8_ITS_M5_Presentation.pptx</dc:title>
  <cp:lastModifiedBy>Shaikh Abdul Wahab</cp:lastModifiedBy>
  <cp:revision>2</cp:revision>
  <dcterms:created xsi:type="dcterms:W3CDTF">2006-08-16T00:00:00Z</dcterms:created>
  <dcterms:modified xsi:type="dcterms:W3CDTF">2026-04-08T16:01:55Z</dcterms:modified>
  <dc:identifier>DAHCxZo17FA</dc:identifier>
</cp:coreProperties>
</file>