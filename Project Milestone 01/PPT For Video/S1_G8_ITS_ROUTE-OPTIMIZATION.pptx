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Lato Bold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Lato" panose="020B0604020202020204" charset="0"/>
      <p:regular r:id="rId20"/>
    </p:embeddedFont>
    <p:embeddedFont>
      <p:font typeface="Lato Heavy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4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78" y="1009650"/>
            <a:ext cx="18534340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-98346" y="9239250"/>
            <a:ext cx="18534340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7268825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38225" y="-1905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233543" y="1414384"/>
            <a:ext cx="15795945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413C36"/>
                </a:solidFill>
                <a:latin typeface="Lato Heavy"/>
                <a:ea typeface="Lato Heavy"/>
                <a:cs typeface="Lato Heavy"/>
                <a:sym typeface="Lato Heavy"/>
              </a:rPr>
              <a:t>CSE400: FUNDAMENTALS OF PROBABILITY IN COMPUTING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72218" y="8410606"/>
            <a:ext cx="390524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4"/>
              </a:lnSpc>
              <a:spcBef>
                <a:spcPct val="0"/>
              </a:spcBef>
            </a:pPr>
            <a:r>
              <a:rPr lang="en-US" sz="3003" b="1" dirty="0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SECTION-1 GROUP-8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2889" y="4107086"/>
            <a:ext cx="7602666" cy="6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6"/>
              </a:lnSpc>
              <a:spcBef>
                <a:spcPct val="0"/>
              </a:spcBef>
            </a:pPr>
            <a:r>
              <a:rPr lang="en-US" sz="3603" b="1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INTELLIGENT TRANSPORT SYSTEM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83547" y="4107086"/>
            <a:ext cx="5193920" cy="63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96"/>
              </a:lnSpc>
              <a:spcBef>
                <a:spcPct val="0"/>
              </a:spcBef>
            </a:pPr>
            <a:r>
              <a:rPr lang="en-US" sz="3603" b="1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ROUTE OPTIMIZATION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3543" y="5503778"/>
            <a:ext cx="7464843" cy="987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8"/>
              </a:lnSpc>
            </a:pPr>
            <a:r>
              <a:rPr lang="en-US" sz="2650" b="1" spc="-76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UNDER GUIDANCE OF:</a:t>
            </a:r>
          </a:p>
          <a:p>
            <a:pPr algn="ctr">
              <a:lnSpc>
                <a:spcPts val="4028"/>
              </a:lnSpc>
              <a:spcBef>
                <a:spcPct val="0"/>
              </a:spcBef>
            </a:pPr>
            <a:r>
              <a:rPr lang="en-US" sz="2650" b="1" spc="-76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PROFESSOR DHAVAL PATEL &amp; PRAPTI MAM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48775"/>
            <a:ext cx="18288000" cy="9525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2372439" y="-519112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6192958" y="1224676"/>
            <a:ext cx="892086" cy="349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1950" b="1" spc="-56">
                <a:solidFill>
                  <a:srgbClr val="E7E5D9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372439" y="0"/>
            <a:ext cx="9248812" cy="9248775"/>
            <a:chOff x="0" y="0"/>
            <a:chExt cx="6350025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27765" r="-27765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28700" y="3184615"/>
            <a:ext cx="10933100" cy="417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Real-world travel times are uncertain due to traffic congestion, signals, and incidents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Deterministic shortest-path routing ignores variability and often leads to late arrivals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In many applications, arriving on time is more important than minimizing expected travel time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This motivates routing methods that explicitly model uncertainty and optimize reliability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162050"/>
            <a:ext cx="1093412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Tractable Pathfinding for the Stochastic On-Time Arrival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48775"/>
            <a:ext cx="18288000" cy="9525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7268825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3404981"/>
            <a:ext cx="11236401" cy="417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spc="-116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Objective: maximize the probability of arriving on time within a fixed time budget</a:t>
            </a:r>
          </a:p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116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Routing is performed on road networks where edge travel times are modeled as random variables</a:t>
            </a:r>
          </a:p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116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The entire path must be chosen before departure (offline decision-making)</a:t>
            </a:r>
          </a:p>
          <a:p>
            <a:pPr marL="647697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spc="-116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Applicable to logistics planning, scheduling, and pre-trip navigation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spc="-116">
              <a:solidFill>
                <a:srgbClr val="413C3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460087"/>
            <a:ext cx="737874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Project Objective and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48775"/>
            <a:ext cx="18288000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19175" y="-33775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494245" y="2813226"/>
            <a:ext cx="9347872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Input: road network represented as a directed graph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Each edge has a probability distribution for travel time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A source, destination, and time budget are specified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System computes the path that maximizes on-time arrival probability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Output: most reliable fixed path under uncertainty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4245" y="923925"/>
            <a:ext cx="6559897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Project System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36333" y="3292218"/>
            <a:ext cx="9507354" cy="4695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Travel time on each road segment is uncertain and varies randomly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Traffic congestion and environmental factors introduce variability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Travel-time distributions are estimated from historical or modeled data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Arrival time relative to the fixed time budget is therefore uncertain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413C3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AutoShape 3"/>
          <p:cNvSpPr/>
          <p:nvPr/>
        </p:nvSpPr>
        <p:spPr>
          <a:xfrm flipH="1">
            <a:off x="1028700" y="-39069"/>
            <a:ext cx="28575" cy="10326069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736333" y="1321271"/>
            <a:ext cx="9752387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Sources of Uncertainty in the Project </a:t>
            </a:r>
          </a:p>
        </p:txBody>
      </p:sp>
      <p:sp>
        <p:nvSpPr>
          <p:cNvPr id="5" name="AutoShape 5"/>
          <p:cNvSpPr/>
          <p:nvPr/>
        </p:nvSpPr>
        <p:spPr>
          <a:xfrm>
            <a:off x="0" y="9258300"/>
            <a:ext cx="18288000" cy="9525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23925"/>
            <a:ext cx="12810067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 KEY RANDOM VARIABLES AND THEIR ROLES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4226" y="4348913"/>
            <a:ext cx="6738649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Random travel time on each edge of the network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Total travel time along a path (sum of edge travel times)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On-time arrival indicator (arrival time ≤ time budget 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4348913"/>
            <a:ext cx="6738649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These variables determine the probability of successful on-time arrival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They form the basis for evaluating path reliability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13C3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9258300"/>
            <a:ext cx="18288000" cy="9525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7268825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2501" y="3402012"/>
            <a:ext cx="9890128" cy="417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Edge travel times are modeled as independent random variables.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Travel-time distributions are time-invariant.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Traffic behavior is assumed to be exogenous.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Total path travel time is computed using convolution of edge distributions.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These assumptions simplify real traffic behavior but enable tractable probabilistic inference.</a:t>
            </a:r>
          </a:p>
        </p:txBody>
      </p:sp>
      <p:sp>
        <p:nvSpPr>
          <p:cNvPr id="3" name="AutoShape 3"/>
          <p:cNvSpPr/>
          <p:nvPr/>
        </p:nvSpPr>
        <p:spPr>
          <a:xfrm>
            <a:off x="-183291" y="9258300"/>
            <a:ext cx="18471291" cy="9525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028700" y="1162050"/>
            <a:ext cx="10302526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Probabilistic Models and Assumptions </a:t>
            </a:r>
          </a:p>
        </p:txBody>
      </p:sp>
      <p:sp>
        <p:nvSpPr>
          <p:cNvPr id="5" name="AutoShape 5"/>
          <p:cNvSpPr/>
          <p:nvPr/>
        </p:nvSpPr>
        <p:spPr>
          <a:xfrm>
            <a:off x="16993893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81747" y="3248025"/>
            <a:ext cx="12379518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Uncertainty propagates through the network via convolution of distributions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Reliability of a path is computed as the probability of total travel time ≤ T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An optimal adaptive routing policy provides an upper bound on path reliability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This policy is used to guide inference toward the most reliable path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028700" y="-39069"/>
            <a:ext cx="28575" cy="10326069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581747" y="1852862"/>
            <a:ext cx="14528002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Probabilistic Reasoning and Inference Logic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192958" y="1224676"/>
            <a:ext cx="892086" cy="349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</a:pPr>
            <a:r>
              <a:rPr lang="en-US" sz="1950" b="1" spc="-56">
                <a:solidFill>
                  <a:srgbClr val="E7E5D9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9258300"/>
            <a:ext cx="18288000" cy="9525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9680" y="3159546"/>
            <a:ext cx="12699593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A best-first (A*-style) search algorithm is used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Paths are expanded in decreasing order of estimated reliability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The policy-based SOTA solution serves as an admissible heuristic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Guarantees that the first complete path found is optimal</a:t>
            </a:r>
          </a:p>
        </p:txBody>
      </p:sp>
      <p:sp>
        <p:nvSpPr>
          <p:cNvPr id="3" name="AutoShape 3"/>
          <p:cNvSpPr/>
          <p:nvPr/>
        </p:nvSpPr>
        <p:spPr>
          <a:xfrm>
            <a:off x="4632337" y="9248775"/>
            <a:ext cx="6827831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1330853" y="9248775"/>
            <a:ext cx="6827831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954180"/>
            <a:ext cx="1328569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Operationalizing Probabilistic Reasoning in the Project</a:t>
            </a:r>
          </a:p>
        </p:txBody>
      </p:sp>
      <p:sp>
        <p:nvSpPr>
          <p:cNvPr id="6" name="AutoShape 6"/>
          <p:cNvSpPr/>
          <p:nvPr/>
        </p:nvSpPr>
        <p:spPr>
          <a:xfrm>
            <a:off x="433070" y="9248775"/>
            <a:ext cx="6827831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268825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48775"/>
            <a:ext cx="18288000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303632" y="1162050"/>
            <a:ext cx="11519964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Current Limitations and Conceptual Gaps</a:t>
            </a:r>
          </a:p>
        </p:txBody>
      </p:sp>
      <p:sp>
        <p:nvSpPr>
          <p:cNvPr id="4" name="AutoShape 4"/>
          <p:cNvSpPr/>
          <p:nvPr/>
        </p:nvSpPr>
        <p:spPr>
          <a:xfrm>
            <a:off x="1019175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579273" y="3060814"/>
            <a:ext cx="10987732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Assumes independence of edge travel times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Does not fully model time-varying traffic conditions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Path-based preprocessing does not scale well to very large networks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Performance depends on quality of travel-time distributions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50589" y="4069130"/>
            <a:ext cx="12204801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Incorporating correlated or time-dependent travel-time models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Improving scalability for large metropolitan networks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Exploring approximation techniques for faster computation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Coordinating modeling, algorithm design, and evaluation across roles</a:t>
            </a:r>
          </a:p>
        </p:txBody>
      </p:sp>
      <p:sp>
        <p:nvSpPr>
          <p:cNvPr id="3" name="AutoShape 3"/>
          <p:cNvSpPr/>
          <p:nvPr/>
        </p:nvSpPr>
        <p:spPr>
          <a:xfrm flipH="1">
            <a:off x="1028700" y="-39069"/>
            <a:ext cx="28575" cy="10326069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1890212" y="1162050"/>
            <a:ext cx="12204801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Planned Refinements and Role Coordination</a:t>
            </a:r>
          </a:p>
        </p:txBody>
      </p:sp>
      <p:sp>
        <p:nvSpPr>
          <p:cNvPr id="5" name="AutoShape 5"/>
          <p:cNvSpPr/>
          <p:nvPr/>
        </p:nvSpPr>
        <p:spPr>
          <a:xfrm>
            <a:off x="-183291" y="9258300"/>
            <a:ext cx="18471291" cy="9525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028700" y="-39069"/>
            <a:ext cx="28575" cy="10326069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741520" y="1204890"/>
            <a:ext cx="10679651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50"/>
              </a:lnSpc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Summary of Group-Level Understanding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43225" y="2783849"/>
            <a:ext cx="11076998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The project addresses reliable routing under travel-time uncertainty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Focuses on the path-based Stochastic On-Time Arrival problem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Uses probabilistic modeling and admissible heuristics for efficiency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Demonstrates that reliable routing can be made tractable in practice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41520" y="8725762"/>
            <a:ext cx="13879480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78" dirty="0" err="1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Niknami</a:t>
            </a:r>
            <a:r>
              <a:rPr lang="en-US" sz="2000" b="1" spc="-78" dirty="0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, M. and </a:t>
            </a:r>
            <a:r>
              <a:rPr lang="en-US" sz="2000" b="1" spc="-78" dirty="0" err="1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Samaranayake</a:t>
            </a:r>
            <a:r>
              <a:rPr lang="en-US" sz="2000" b="1" spc="-78" dirty="0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, S. (2016). Tractable </a:t>
            </a:r>
            <a:r>
              <a:rPr lang="en-US" sz="2000" b="1" spc="-78" dirty="0" err="1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Pathfinding</a:t>
            </a:r>
            <a:r>
              <a:rPr lang="en-US" sz="2000" b="1" spc="-78" dirty="0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 for the Stochastic on-time Arrival Problem. In: Springer. pp.231–245.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4033" y="7590318"/>
            <a:ext cx="279990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195">
                <a:solidFill>
                  <a:srgbClr val="413C36"/>
                </a:solidFill>
                <a:latin typeface="Lato Bold"/>
                <a:ea typeface="Lato Bold"/>
                <a:cs typeface="Lato Bold"/>
                <a:sym typeface="Lato Bold"/>
              </a:rPr>
              <a:t>Reference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378" y="1009650"/>
            <a:ext cx="18534340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-98346" y="9239250"/>
            <a:ext cx="18534340" cy="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6916563" y="-1905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296048" y="4522419"/>
            <a:ext cx="9695905" cy="159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28"/>
              </a:lnSpc>
            </a:pPr>
            <a:r>
              <a:rPr lang="en-US" sz="12778" spc="-498">
                <a:solidFill>
                  <a:srgbClr val="413C36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</a:p>
        </p:txBody>
      </p:sp>
      <p:sp>
        <p:nvSpPr>
          <p:cNvPr id="6" name="AutoShape 6"/>
          <p:cNvSpPr/>
          <p:nvPr/>
        </p:nvSpPr>
        <p:spPr>
          <a:xfrm>
            <a:off x="1371873" y="0"/>
            <a:ext cx="0" cy="10287000"/>
          </a:xfrm>
          <a:prstGeom prst="line">
            <a:avLst/>
          </a:prstGeom>
          <a:ln w="19050" cap="rnd">
            <a:solidFill>
              <a:srgbClr val="413C36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574</Words>
  <Application>Microsoft Office PowerPoint</Application>
  <PresentationFormat>Custom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Lato Bold</vt:lpstr>
      <vt:lpstr>Calibri</vt:lpstr>
      <vt:lpstr>Arial</vt:lpstr>
      <vt:lpstr>Lato</vt:lpstr>
      <vt:lpstr>Lato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S1_G8_ITS_ROUTE-OPTIMIZATION</dc:title>
  <cp:lastModifiedBy>Microsoft account</cp:lastModifiedBy>
  <cp:revision>2</cp:revision>
  <dcterms:created xsi:type="dcterms:W3CDTF">2006-08-16T00:00:00Z</dcterms:created>
  <dcterms:modified xsi:type="dcterms:W3CDTF">2026-02-03T03:58:55Z</dcterms:modified>
  <dc:identifier>DAG_r_VKr-U</dc:identifier>
</cp:coreProperties>
</file>